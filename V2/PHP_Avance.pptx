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457200"/>
            <a:ext cx="3200400" cy="3200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2926080"/>
            <a:ext cx="2560320" cy="256032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spc="200" kern="0" dirty="0">
                <a:solidFill>
                  <a:srgbClr val="00C9A7"/>
                </a:solidFill>
              </a:rPr>
              <a:t>PHP Avancé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B0C8D8"/>
                </a:solidFill>
              </a:rPr>
              <a:t>Fonctions Anonymes · Arrow Functions · Closures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B0C8D8"/>
                </a:solidFill>
              </a:rPr>
              <a:t>Tableaux · Composer · Packagist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017520"/>
            <a:ext cx="4114800" cy="594360"/>
          </a:xfrm>
          <a:prstGeom prst="roundRect">
            <a:avLst>
              <a:gd name="adj" fmla="val 18462"/>
            </a:avLst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301752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a) Fonctions Anonymes &amp; Closures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937760" y="3017520"/>
            <a:ext cx="4114800" cy="594360"/>
          </a:xfrm>
          <a:prstGeom prst="roundRect">
            <a:avLst>
              <a:gd name="adj" fmla="val 18462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301752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b) Fonctions array_*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794760"/>
            <a:ext cx="4114800" cy="594360"/>
          </a:xfrm>
          <a:prstGeom prst="roundRect">
            <a:avLst>
              <a:gd name="adj" fmla="val 18462"/>
            </a:avLst>
          </a:prstGeom>
          <a:solidFill>
            <a:srgbClr val="0A7EA4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79476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c) Composer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937760" y="3794760"/>
            <a:ext cx="4114800" cy="594360"/>
          </a:xfrm>
          <a:prstGeom prst="roundRect">
            <a:avLst>
              <a:gd name="adj" fmla="val 18462"/>
            </a:avLst>
          </a:prstGeom>
          <a:solidFill>
            <a:srgbClr val="1A5276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379476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d) Packagist.org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Présentation Technique – PHP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291840" cy="10972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128016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00C9A7">
                    <a:alpha val="85000"/>
                  </a:srgbClr>
                </a:solidFill>
              </a:rPr>
              <a:t>A</a:t>
            </a:r>
            <a:endParaRPr lang="en-US" sz="9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3291840"/>
            <a:ext cx="91440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566160" y="137160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Fonctions Anonymes</a:t>
            </a:r>
            <a:endParaRPr lang="en-US" sz="2800" dirty="0"/>
          </a:p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Arrow Functions &amp; Closures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3566160" y="2377440"/>
            <a:ext cx="5303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C9A7"/>
                </a:solidFill>
              </a:rPr>
              <a:t>Maîtrisez les fonctions de première classe en PHP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Fonctions Anonymes (Closures)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3931920" cy="402336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9144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</a:rPr>
              <a:t>Qu'est-ce que c'est 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3566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Une fonction sans nom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Assignable à une variable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Passable en argument (callback)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Retournable par une autre fonction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Accède aux variables externes via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</a:rPr>
              <a:t>use ($var)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35661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</a:rPr>
              <a:t>Avantages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8404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Code modulaire · Callbacks propres · Logique encapsulée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434840" y="80467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</a:rPr>
              <a:t>Exemples de code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89120" y="1188720"/>
            <a:ext cx="4480560" cy="1188720"/>
          </a:xfrm>
          <a:prstGeom prst="roundRect">
            <a:avLst>
              <a:gd name="adj" fmla="val 6154"/>
            </a:avLst>
          </a:prstGeom>
          <a:solidFill>
            <a:srgbClr val="1E3A4C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89120" y="1188720"/>
            <a:ext cx="256032" cy="1188720"/>
          </a:xfrm>
          <a:prstGeom prst="rect">
            <a:avLst/>
          </a:prstGeom>
          <a:solidFill>
            <a:srgbClr val="102030"/>
          </a:solidFill>
          <a:ln/>
        </p:spPr>
      </p:sp>
      <p:sp>
        <p:nvSpPr>
          <p:cNvPr id="12" name="Text 10"/>
          <p:cNvSpPr/>
          <p:nvPr/>
        </p:nvSpPr>
        <p:spPr>
          <a:xfrm>
            <a:off x="4709160" y="1234440"/>
            <a:ext cx="4069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Fonction anonyme simple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$saluer = function($nom) {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"Bonjour, $nom !";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$saluer("Alice"); // Bonjour, Alice !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389120" y="2514600"/>
            <a:ext cx="4480560" cy="1234440"/>
          </a:xfrm>
          <a:prstGeom prst="roundRect">
            <a:avLst>
              <a:gd name="adj" fmla="val 5926"/>
            </a:avLst>
          </a:prstGeom>
          <a:solidFill>
            <a:srgbClr val="1E3A4C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389120" y="2514600"/>
            <a:ext cx="256032" cy="1234440"/>
          </a:xfrm>
          <a:prstGeom prst="rect">
            <a:avLst/>
          </a:prstGeom>
          <a:solidFill>
            <a:srgbClr val="102030"/>
          </a:solidFill>
          <a:ln/>
        </p:spPr>
      </p:sp>
      <p:sp>
        <p:nvSpPr>
          <p:cNvPr id="15" name="Text 13"/>
          <p:cNvSpPr/>
          <p:nvPr/>
        </p:nvSpPr>
        <p:spPr>
          <a:xfrm>
            <a:off x="4709160" y="2560320"/>
            <a:ext cx="4069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Capture de variable externe avec use()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$taxe = 0.2;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$prixTTC = function($ht) use ($taxe) {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$ht * (1 + $taxe);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$prixTTC(100); // 120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389120" y="3858768"/>
            <a:ext cx="4480560" cy="1097280"/>
          </a:xfrm>
          <a:prstGeom prst="roundRect">
            <a:avLst>
              <a:gd name="adj" fmla="val 6667"/>
            </a:avLst>
          </a:prstGeom>
          <a:solidFill>
            <a:srgbClr val="1E3A4C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389120" y="3858768"/>
            <a:ext cx="256032" cy="1097280"/>
          </a:xfrm>
          <a:prstGeom prst="rect">
            <a:avLst/>
          </a:prstGeom>
          <a:solidFill>
            <a:srgbClr val="102030"/>
          </a:solidFill>
          <a:ln/>
        </p:spPr>
      </p:sp>
      <p:sp>
        <p:nvSpPr>
          <p:cNvPr id="18" name="Text 16"/>
          <p:cNvSpPr/>
          <p:nvPr/>
        </p:nvSpPr>
        <p:spPr>
          <a:xfrm>
            <a:off x="4709160" y="3904488"/>
            <a:ext cx="4069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Callback dans array_map()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$nums = [1, 2, 3, 4];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$doubles = array_map(function($n) {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$n * 2;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 $nums); // [2, 4, 6, 8]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Arrow Functions (PHP 7.4+)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4155"/>
                </a:solidFill>
              </a:rPr>
              <a:t>Fonction anonyme  vs  Arrow function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4160520" cy="411480"/>
          </a:xfrm>
          <a:prstGeom prst="roundRect">
            <a:avLst>
              <a:gd name="adj" fmla="val 17778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18872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Anonyme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09160" y="1188720"/>
            <a:ext cx="4160520" cy="411480"/>
          </a:xfrm>
          <a:prstGeom prst="roundRect">
            <a:avLst>
              <a:gd name="adj" fmla="val 17778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4709160" y="118872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Arrow fn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691640"/>
            <a:ext cx="4160520" cy="777240"/>
          </a:xfrm>
          <a:prstGeom prst="roundRect">
            <a:avLst>
              <a:gd name="adj" fmla="val 9412"/>
            </a:avLst>
          </a:prstGeom>
          <a:solidFill>
            <a:srgbClr val="1E3A4C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691640"/>
            <a:ext cx="256032" cy="777240"/>
          </a:xfrm>
          <a:prstGeom prst="rect">
            <a:avLst/>
          </a:prstGeom>
          <a:solidFill>
            <a:srgbClr val="102030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73736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$double = function($n) {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$n * 2;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480560" y="1691640"/>
            <a:ext cx="4160520" cy="777240"/>
          </a:xfrm>
          <a:prstGeom prst="roundRect">
            <a:avLst>
              <a:gd name="adj" fmla="val 9412"/>
            </a:avLst>
          </a:prstGeom>
          <a:solidFill>
            <a:srgbClr val="1E3A4C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480560" y="1691640"/>
            <a:ext cx="256032" cy="777240"/>
          </a:xfrm>
          <a:prstGeom prst="rect">
            <a:avLst/>
          </a:prstGeom>
          <a:solidFill>
            <a:srgbClr val="102030"/>
          </a:solidFill>
          <a:ln/>
        </p:spPr>
      </p:sp>
      <p:sp>
        <p:nvSpPr>
          <p:cNvPr id="14" name="Text 12"/>
          <p:cNvSpPr/>
          <p:nvPr/>
        </p:nvSpPr>
        <p:spPr>
          <a:xfrm>
            <a:off x="4800600" y="173736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$double = fn($n) =&gt; $n * 2;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" y="2606040"/>
            <a:ext cx="85039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27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7200" y="2606040"/>
            <a:ext cx="365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9A7"/>
                </a:solidFill>
              </a:rPr>
              <a:t>✓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26334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Capture automatique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287121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Capture les variables du scope parent sans use()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0040" y="3355848"/>
            <a:ext cx="85039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27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57200" y="3355848"/>
            <a:ext cx="365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9A7"/>
                </a:solidFill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33832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Expression unique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2960" y="362102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Le corps est une seule expression (pas de bloc)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0040" y="4105656"/>
            <a:ext cx="85039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27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57200" y="4105656"/>
            <a:ext cx="365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9A7"/>
                </a:solidFill>
              </a:rPr>
              <a:t>✓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22960" y="413308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return implicite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22960" y="43708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La valeur de l'expression est automatiquement retournée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65760" y="461772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1E3A4C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65760" y="4617720"/>
            <a:ext cx="256032" cy="502920"/>
          </a:xfrm>
          <a:prstGeom prst="rect">
            <a:avLst/>
          </a:prstGeom>
          <a:solidFill>
            <a:srgbClr val="102030"/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" y="4663440"/>
            <a:ext cx="8001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Capture automatique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$mult = 5;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$fn = fn($x) =&gt; $x * $mult; // $mult capturé automatiquement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$fn(3); // 15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21B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C9A7"/>
                </a:solidFill>
              </a:rPr>
              <a:t>Closures – Principe &amp; Cas d'usage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Une closure « ferme » sur son environnement lexical 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1828800"/>
          </a:xfrm>
          <a:prstGeom prst="roundRect">
            <a:avLst>
              <a:gd name="adj" fmla="val 4000"/>
            </a:avLst>
          </a:prstGeom>
          <a:solidFill>
            <a:srgbClr val="1E3A4C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256032" cy="1828800"/>
          </a:xfrm>
          <a:prstGeom prst="rect">
            <a:avLst/>
          </a:prstGeom>
          <a:solidFill>
            <a:srgbClr val="102030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234440"/>
            <a:ext cx="8001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compteur() {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$count = 0;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function() use (&amp;$count) { // capture par référence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++$count;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$c = compteur();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$c(); // 1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$c(); // 2  ← l'état est conservé !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0040" y="3154680"/>
            <a:ext cx="420624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3200400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🔒  Encapsulation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49300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Cacher l'état interne, exposer seulement une interface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3154680"/>
            <a:ext cx="420624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92040" y="3200400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♻️  Mémoïsation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92040" y="349300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Mettre en cache des résultats coûteux (fn récursives)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4069080"/>
            <a:ext cx="420624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" y="4114800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📋  Callbacks différés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40740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Passer de la logique à exécuter plus tard (événements, queues)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4069080"/>
            <a:ext cx="420624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92040" y="4114800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🔁  Currying / Partiel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92040" y="440740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Pré-remplir des paramètres pour créer de nouvelles fonctions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291840" cy="10972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128016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00C9A7">
                    <a:alpha val="85000"/>
                  </a:srgbClr>
                </a:solidFill>
              </a:rPr>
              <a:t>B</a:t>
            </a:r>
            <a:endParaRPr lang="en-US" sz="9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3291840"/>
            <a:ext cx="91440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566160" y="137160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Fonctions Natives</a:t>
            </a:r>
            <a:endParaRPr lang="en-US" sz="2800" dirty="0"/>
          </a:p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de Tableaux array_*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3566160" y="2377440"/>
            <a:ext cx="5303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C9A7"/>
                </a:solidFill>
              </a:rPr>
              <a:t>Manipulez vos données comme un pro avec les array_* PHP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Fonctions array_* – Vue d'ensemble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822960"/>
            <a:ext cx="28346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822960"/>
            <a:ext cx="2834640" cy="384048"/>
          </a:xfrm>
          <a:prstGeom prst="roundRect">
            <a:avLst>
              <a:gd name="adj" fmla="val 23810"/>
            </a:avLst>
          </a:prstGeom>
          <a:solidFill>
            <a:srgbClr val="0A7EA4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82296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array_map()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12618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</a:rPr>
              <a:t>Transforme chaque élément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1572768"/>
            <a:ext cx="2651760" cy="1097280"/>
          </a:xfrm>
          <a:prstGeom prst="roundRect">
            <a:avLst>
              <a:gd name="adj" fmla="val 5000"/>
            </a:avLst>
          </a:prstGeom>
          <a:solidFill>
            <a:srgbClr val="1E3A4C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627632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array_map(fn($x)=&gt;$x*2, [1,2,3])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→ [2, 4, 6]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00400" y="822960"/>
            <a:ext cx="28346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822960"/>
            <a:ext cx="2834640" cy="384048"/>
          </a:xfrm>
          <a:prstGeom prst="roundRect">
            <a:avLst>
              <a:gd name="adj" fmla="val 23810"/>
            </a:avLst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0" y="82296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array_filter()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91840" y="12618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</a:rPr>
              <a:t>Garde les éléments selon critère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91840" y="1572768"/>
            <a:ext cx="2651760" cy="1097280"/>
          </a:xfrm>
          <a:prstGeom prst="roundRect">
            <a:avLst>
              <a:gd name="adj" fmla="val 5000"/>
            </a:avLst>
          </a:prstGeom>
          <a:solidFill>
            <a:srgbClr val="1E3A4C"/>
          </a:solidFill>
          <a:ln/>
        </p:spPr>
      </p:sp>
      <p:sp>
        <p:nvSpPr>
          <p:cNvPr id="15" name="Text 13"/>
          <p:cNvSpPr/>
          <p:nvPr/>
        </p:nvSpPr>
        <p:spPr>
          <a:xfrm>
            <a:off x="3337560" y="1627632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array_filter([1,2,3,4], fn($x)=&gt;$x%2==0)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→ [2, 4]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172200" y="822960"/>
            <a:ext cx="28346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822960"/>
            <a:ext cx="2834640" cy="384048"/>
          </a:xfrm>
          <a:prstGeom prst="roundRect">
            <a:avLst>
              <a:gd name="adj" fmla="val 23810"/>
            </a:avLst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6263640" y="82296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array_reduce()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63640" y="12618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</a:rPr>
              <a:t>Réduit à une seule valeur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63640" y="1572768"/>
            <a:ext cx="2651760" cy="1097280"/>
          </a:xfrm>
          <a:prstGeom prst="roundRect">
            <a:avLst>
              <a:gd name="adj" fmla="val 5000"/>
            </a:avLst>
          </a:prstGeom>
          <a:solidFill>
            <a:srgbClr val="1E3A4C"/>
          </a:solidFill>
          <a:ln/>
        </p:spPr>
      </p:sp>
      <p:sp>
        <p:nvSpPr>
          <p:cNvPr id="21" name="Text 19"/>
          <p:cNvSpPr/>
          <p:nvPr/>
        </p:nvSpPr>
        <p:spPr>
          <a:xfrm>
            <a:off x="6309360" y="1627632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array_reduce([1,2,3], fn($c,$x)=&gt;$c+$x, 0)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→ 6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28600" y="2926080"/>
            <a:ext cx="28346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28600" y="2926080"/>
            <a:ext cx="2834640" cy="384048"/>
          </a:xfrm>
          <a:prstGeom prst="roundRect">
            <a:avLst>
              <a:gd name="adj" fmla="val 23810"/>
            </a:avLst>
          </a:prstGeom>
          <a:solidFill>
            <a:srgbClr val="1A5276"/>
          </a:solidFill>
          <a:ln/>
        </p:spPr>
      </p:sp>
      <p:sp>
        <p:nvSpPr>
          <p:cNvPr id="24" name="Text 22"/>
          <p:cNvSpPr/>
          <p:nvPr/>
        </p:nvSpPr>
        <p:spPr>
          <a:xfrm>
            <a:off x="320040" y="292608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array_search()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0040" y="336499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</a:rPr>
              <a:t>Cherche une valeur, retourne la clé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" y="3675888"/>
            <a:ext cx="2651760" cy="1097280"/>
          </a:xfrm>
          <a:prstGeom prst="roundRect">
            <a:avLst>
              <a:gd name="adj" fmla="val 5000"/>
            </a:avLst>
          </a:prstGeom>
          <a:solidFill>
            <a:srgbClr val="1E3A4C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" y="3730752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array_search('b', ['a','b','c'])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→ 1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200400" y="2926080"/>
            <a:ext cx="28346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0" y="2926080"/>
            <a:ext cx="2834640" cy="384048"/>
          </a:xfrm>
          <a:prstGeom prst="roundRect">
            <a:avLst>
              <a:gd name="adj" fmla="val 23810"/>
            </a:avLst>
          </a:prstGeom>
          <a:solidFill>
            <a:srgbClr val="1C7293"/>
          </a:solidFill>
          <a:ln/>
        </p:spPr>
      </p:sp>
      <p:sp>
        <p:nvSpPr>
          <p:cNvPr id="30" name="Text 28"/>
          <p:cNvSpPr/>
          <p:nvPr/>
        </p:nvSpPr>
        <p:spPr>
          <a:xfrm>
            <a:off x="3291840" y="292608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array_merge()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291840" y="336499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</a:rPr>
              <a:t>Fusionne plusieurs tableaux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91840" y="3675888"/>
            <a:ext cx="2651760" cy="1097280"/>
          </a:xfrm>
          <a:prstGeom prst="roundRect">
            <a:avLst>
              <a:gd name="adj" fmla="val 5000"/>
            </a:avLst>
          </a:prstGeom>
          <a:solidFill>
            <a:srgbClr val="1E3A4C"/>
          </a:solidFill>
          <a:ln/>
        </p:spPr>
      </p:sp>
      <p:sp>
        <p:nvSpPr>
          <p:cNvPr id="33" name="Text 31"/>
          <p:cNvSpPr/>
          <p:nvPr/>
        </p:nvSpPr>
        <p:spPr>
          <a:xfrm>
            <a:off x="3337560" y="3730752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array_merge([1,2], [3,4], [5])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→ [1, 2, 3, 4, 5]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172200" y="2926080"/>
            <a:ext cx="28346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72200" y="2926080"/>
            <a:ext cx="2834640" cy="384048"/>
          </a:xfrm>
          <a:prstGeom prst="roundRect">
            <a:avLst>
              <a:gd name="adj" fmla="val 23810"/>
            </a:avLst>
          </a:prstGeom>
          <a:solidFill>
            <a:srgbClr val="21295C"/>
          </a:solidFill>
          <a:ln/>
        </p:spPr>
      </p:sp>
      <p:sp>
        <p:nvSpPr>
          <p:cNvPr id="36" name="Text 34"/>
          <p:cNvSpPr/>
          <p:nvPr/>
        </p:nvSpPr>
        <p:spPr>
          <a:xfrm>
            <a:off x="6263640" y="292608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array_slice()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263640" y="336499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</a:rPr>
              <a:t>Extrait une portion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263640" y="3675888"/>
            <a:ext cx="2651760" cy="1097280"/>
          </a:xfrm>
          <a:prstGeom prst="roundRect">
            <a:avLst>
              <a:gd name="adj" fmla="val 5000"/>
            </a:avLst>
          </a:prstGeom>
          <a:solidFill>
            <a:srgbClr val="1E3A4C"/>
          </a:solidFill>
          <a:ln/>
        </p:spPr>
      </p:sp>
      <p:sp>
        <p:nvSpPr>
          <p:cNvPr id="39" name="Text 37"/>
          <p:cNvSpPr/>
          <p:nvPr/>
        </p:nvSpPr>
        <p:spPr>
          <a:xfrm>
            <a:off x="6309360" y="3730752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array_slice([10,20,30,40], 1, 2)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→ [20, 30]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Exemples avancés – array_map, filter, reduce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8412480" cy="2834640"/>
          </a:xfrm>
          <a:prstGeom prst="roundRect">
            <a:avLst>
              <a:gd name="adj" fmla="val 2581"/>
            </a:avLst>
          </a:prstGeom>
          <a:solidFill>
            <a:srgbClr val="1E3A4C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777240"/>
            <a:ext cx="256032" cy="2834640"/>
          </a:xfrm>
          <a:prstGeom prst="rect">
            <a:avLst/>
          </a:prstGeom>
          <a:solidFill>
            <a:srgbClr val="102030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822960"/>
            <a:ext cx="8001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Pipeline de transformation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$produits = [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['nom' =&gt; 'Livre', 'prix' =&gt; 25, 'stock' =&gt; 0],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['nom' =&gt; 'Stylo', 'prix' =&gt; 3,  'stock' =&gt; 50],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['nom' =&gt; 'Agenda','prix' =&gt; 18, 'stock' =&gt; 10],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$total = array_reduce(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array_map(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fn($p) =&gt; $p['prix'],                        // Extraire les prix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array_filter($produits, fn($p) =&gt; $p['stock'] &gt; 0) // Garder en stock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),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fn($carry, $prix) =&gt; $carry + $prix,             // Sommer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0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// → 21 (3 + 18)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65760" y="3703320"/>
            <a:ext cx="8412480" cy="777240"/>
          </a:xfrm>
          <a:prstGeom prst="roundRect">
            <a:avLst>
              <a:gd name="adj" fmla="val 9412"/>
            </a:avLst>
          </a:prstGeom>
          <a:solidFill>
            <a:srgbClr val="1E3A4C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3703320"/>
            <a:ext cx="256032" cy="777240"/>
          </a:xfrm>
          <a:prstGeom prst="rect">
            <a:avLst/>
          </a:prstGeom>
          <a:solidFill>
            <a:srgbClr val="102030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3749040"/>
            <a:ext cx="8001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usort() – tri personnalisé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usort($produits, fn($a, $b) =&gt; $a['prix'] &lt;=&gt; $b['prix']);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ordre croissant par prix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4572000"/>
            <a:ext cx="8412480" cy="777240"/>
          </a:xfrm>
          <a:prstGeom prst="roundRect">
            <a:avLst>
              <a:gd name="adj" fmla="val 9412"/>
            </a:avLst>
          </a:prstGeom>
          <a:solidFill>
            <a:srgbClr val="1E3A4C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4572000"/>
            <a:ext cx="256032" cy="777240"/>
          </a:xfrm>
          <a:prstGeom prst="rect">
            <a:avLst/>
          </a:prstGeom>
          <a:solidFill>
            <a:srgbClr val="102030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4617720"/>
            <a:ext cx="8001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array_unique() + array_values()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$ids = array_values(array_unique([3, 1, 4, 1, 5, 3]));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→ [3, 1, 4, 5]  (réindexé)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291840" cy="10972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128016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00C9A7">
                    <a:alpha val="85000"/>
                  </a:srgbClr>
                </a:solidFill>
              </a:rPr>
              <a:t>C</a:t>
            </a:r>
            <a:endParaRPr lang="en-US" sz="9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3291840"/>
            <a:ext cx="91440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566160" y="137160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Composer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3566160" y="2377440"/>
            <a:ext cx="5303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C9A7"/>
                </a:solidFill>
              </a:rPr>
              <a:t>Le gestionnaire de dépendances incontournable de PHP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7EA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Composer – Gestionnaire de Dépendances PHP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374904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8686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</a:rPr>
              <a:t>Qu'est-ce que Composer 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3383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</a:rPr>
              <a:t>Outil en ligne de commande (CLI)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</a:rPr>
              <a:t>Gère les bibliothèques tierces de votre projet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</a:rPr>
              <a:t>Résout automatiquement les dépendances transitives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</a:rPr>
              <a:t>Génère l'autoloader PSR-4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</a:rPr>
              <a:t>Verrouille les versions (composer.lock)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</a:rPr>
              <a:t>Standard de l'écosystème PHP moderne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251960" y="80467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4155"/>
                </a:solidFill>
              </a:rPr>
              <a:t>Fichiers clés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51960" y="1188720"/>
            <a:ext cx="4617720" cy="2377440"/>
          </a:xfrm>
          <a:prstGeom prst="roundRect">
            <a:avLst>
              <a:gd name="adj" fmla="val 3077"/>
            </a:avLst>
          </a:prstGeom>
          <a:solidFill>
            <a:srgbClr val="1E3A4C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251960" y="1188720"/>
            <a:ext cx="256032" cy="2377440"/>
          </a:xfrm>
          <a:prstGeom prst="rect">
            <a:avLst/>
          </a:prstGeom>
          <a:solidFill>
            <a:srgbClr val="10203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1234440"/>
            <a:ext cx="4206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composer.json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"name": "mon/projet",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"require": {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"php": "&gt;=8.1",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"monolog/monolog": "^3.0",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"guzzlehttp/guzzle": "^7.5"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"autoload": {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"psr-4": { "App\\": "src/" }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3749040"/>
            <a:ext cx="2011680" cy="1188720"/>
          </a:xfrm>
          <a:prstGeom prst="roundRect">
            <a:avLst>
              <a:gd name="adj" fmla="val 7692"/>
            </a:avLst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3749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9A7"/>
                </a:solidFill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5760" y="40050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composer init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65760" y="437083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B4C0"/>
                </a:solidFill>
              </a:rPr>
              <a:t>Initialise composer.json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212848" y="41148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9A7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441448" y="3749040"/>
            <a:ext cx="2011680" cy="1188720"/>
          </a:xfrm>
          <a:prstGeom prst="roundRect">
            <a:avLst>
              <a:gd name="adj" fmla="val 7692"/>
            </a:avLst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2441448" y="3749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9A7"/>
                </a:solidFill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532888" y="40050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composer require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532888" y="437083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B4C0"/>
                </a:solidFill>
              </a:rPr>
              <a:t>Ajoute une dépendance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379976" y="41148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9A7"/>
                </a:solidFill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608576" y="3749040"/>
            <a:ext cx="2011680" cy="1188720"/>
          </a:xfrm>
          <a:prstGeom prst="roundRect">
            <a:avLst>
              <a:gd name="adj" fmla="val 7692"/>
            </a:avLst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4608576" y="3749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9A7"/>
                </a:solidFill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700016" y="40050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composer install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700016" y="437083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B4C0"/>
                </a:solidFill>
              </a:rPr>
              <a:t>Installe toutes les dépendances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547104" y="41148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9A7"/>
                </a:solidFill>
              </a:rPr>
              <a:t>→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775704" y="3749040"/>
            <a:ext cx="2011680" cy="1188720"/>
          </a:xfrm>
          <a:prstGeom prst="roundRect">
            <a:avLst>
              <a:gd name="adj" fmla="val 7692"/>
            </a:avLst>
          </a:prstGeom>
          <a:solidFill>
            <a:srgbClr val="065A82"/>
          </a:solidFill>
          <a:ln/>
        </p:spPr>
      </p:sp>
      <p:sp>
        <p:nvSpPr>
          <p:cNvPr id="27" name="Text 25"/>
          <p:cNvSpPr/>
          <p:nvPr/>
        </p:nvSpPr>
        <p:spPr>
          <a:xfrm>
            <a:off x="6775704" y="3749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9A7"/>
                </a:solidFill>
              </a:rPr>
              <a:t>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867144" y="40050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$vendor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867144" y="437083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B4C0"/>
                </a:solidFill>
              </a:rPr>
              <a:t>Inclut vendor/autoload.php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C9A7"/>
                </a:solidFill>
              </a:rPr>
              <a:t>Composer – Commandes Essentielles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804672"/>
            <a:ext cx="8503920" cy="594360"/>
          </a:xfrm>
          <a:prstGeom prst="roundRect">
            <a:avLst>
              <a:gd name="adj" fmla="val 12308"/>
            </a:avLst>
          </a:prstGeom>
          <a:solidFill>
            <a:srgbClr val="0D2B3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804672"/>
            <a:ext cx="274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</a:rPr>
              <a:t>$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49808" y="804672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composer require vendor/package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577840" y="804672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EB8D4"/>
                </a:solidFill>
              </a:rPr>
              <a:t>Installe et ajoute au composer.json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0040" y="1508760"/>
            <a:ext cx="8503920" cy="594360"/>
          </a:xfrm>
          <a:prstGeom prst="roundRect">
            <a:avLst>
              <a:gd name="adj" fmla="val 12308"/>
            </a:avLst>
          </a:prstGeom>
          <a:solidFill>
            <a:srgbClr val="0D2B3E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508760"/>
            <a:ext cx="274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</a:rPr>
              <a:t>$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49808" y="150876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composer install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577840" y="150876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EB8D4"/>
                </a:solidFill>
              </a:rPr>
              <a:t>Installe les dépendances depuis composer.lock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2212848"/>
            <a:ext cx="8503920" cy="594360"/>
          </a:xfrm>
          <a:prstGeom prst="roundRect">
            <a:avLst>
              <a:gd name="adj" fmla="val 12308"/>
            </a:avLst>
          </a:prstGeom>
          <a:solidFill>
            <a:srgbClr val="0D2B3E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212848"/>
            <a:ext cx="274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</a:rPr>
              <a:t>$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49808" y="2212848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composer update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577840" y="221284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EB8D4"/>
                </a:solidFill>
              </a:rPr>
              <a:t>Met à jour vers les dernières versions compatibles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2916936"/>
            <a:ext cx="8503920" cy="594360"/>
          </a:xfrm>
          <a:prstGeom prst="roundRect">
            <a:avLst>
              <a:gd name="adj" fmla="val 12308"/>
            </a:avLst>
          </a:prstGeom>
          <a:solidFill>
            <a:srgbClr val="0D2B3E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916936"/>
            <a:ext cx="274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</a:rPr>
              <a:t>$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49808" y="2916936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composer remove vendor/package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577840" y="2916936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EB8D4"/>
                </a:solidFill>
              </a:rPr>
              <a:t>Supprime une dépendance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0040" y="3621024"/>
            <a:ext cx="8503920" cy="594360"/>
          </a:xfrm>
          <a:prstGeom prst="roundRect">
            <a:avLst>
              <a:gd name="adj" fmla="val 12308"/>
            </a:avLst>
          </a:prstGeom>
          <a:solidFill>
            <a:srgbClr val="0D2B3E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621024"/>
            <a:ext cx="274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</a:rPr>
              <a:t>$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49808" y="3621024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composer dump-autoload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577840" y="3621024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EB8D4"/>
                </a:solidFill>
              </a:rPr>
              <a:t>Régénère l'autoloader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0040" y="4325112"/>
            <a:ext cx="8503920" cy="594360"/>
          </a:xfrm>
          <a:prstGeom prst="roundRect">
            <a:avLst>
              <a:gd name="adj" fmla="val 12308"/>
            </a:avLst>
          </a:prstGeom>
          <a:solidFill>
            <a:srgbClr val="0D2B3E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325112"/>
            <a:ext cx="274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</a:rPr>
              <a:t>$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49808" y="4325112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composer show --installed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577840" y="4325112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EB8D4"/>
                </a:solidFill>
              </a:rPr>
              <a:t>Liste les paquets installés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65760" y="4983480"/>
            <a:ext cx="8412480" cy="1097280"/>
          </a:xfrm>
          <a:prstGeom prst="roundRect">
            <a:avLst>
              <a:gd name="adj" fmla="val 6667"/>
            </a:avLst>
          </a:prstGeom>
          <a:solidFill>
            <a:srgbClr val="1E3A4C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65760" y="4983480"/>
            <a:ext cx="256032" cy="1097280"/>
          </a:xfrm>
          <a:prstGeom prst="rect">
            <a:avLst/>
          </a:prstGeom>
          <a:solidFill>
            <a:srgbClr val="102030"/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" y="5029200"/>
            <a:ext cx="8001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vendor/autoload.php – inclure une seule fois !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 __DIR__ . '/vendor/autoload.php';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Monolog\Logger;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Monolog\Handler\StreamHandler;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$log = new Logger('app');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$log-&gt;pushHandler(new StreamHandler('app.log', Logger::WARNING));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291840" cy="10972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128016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00C9A7">
                    <a:alpha val="85000"/>
                  </a:srgbClr>
                </a:solidFill>
              </a:rPr>
              <a:t>D</a:t>
            </a:r>
            <a:endParaRPr lang="en-US" sz="9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3291840"/>
            <a:ext cx="91440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566160" y="137160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Packagist.org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3566160" y="2377440"/>
            <a:ext cx="5303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C9A7"/>
                </a:solidFill>
              </a:rPr>
              <a:t>Le registre central de paquets PHP – découvrez l'écosystème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Packagist.org – Écosystème PHP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2834640" cy="1005840"/>
          </a:xfrm>
          <a:prstGeom prst="roundRect">
            <a:avLst>
              <a:gd name="adj" fmla="val 9091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84124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C9A7"/>
                </a:solidFill>
              </a:rPr>
              <a:t>350 000+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74320" y="13716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Paquets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46120" y="804672"/>
            <a:ext cx="2834640" cy="1005840"/>
          </a:xfrm>
          <a:prstGeom prst="roundRect">
            <a:avLst>
              <a:gd name="adj" fmla="val 9091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3246120" y="84124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C9A7"/>
                </a:solidFill>
              </a:rPr>
              <a:t>2M+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246120" y="13716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Versions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804672"/>
            <a:ext cx="2834640" cy="1005840"/>
          </a:xfrm>
          <a:prstGeom prst="roundRect">
            <a:avLst>
              <a:gd name="adj" fmla="val 9091"/>
            </a:avLst>
          </a:prstGeom>
          <a:solidFill>
            <a:srgbClr val="0A7EA4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84124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C9A7"/>
                </a:solidFill>
              </a:rPr>
              <a:t>Milliards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217920" y="13716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d'installations/mois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1920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4155"/>
                </a:solidFill>
              </a:rPr>
              <a:t>Comment ça fonctionne ?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5760" y="228600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</a:rPr>
              <a:t>Développeur publie un paquet sur GitHub/GitLab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</a:rPr>
              <a:t>Le déclare sur packagist.org (lien vers le dépôt)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</a:rPr>
              <a:t>Packagist indexe automatiquement les tags/releases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</a:rPr>
              <a:t>Composer télécharge le paquet directement depuis le dépôt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029200" y="19202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4155"/>
                </a:solidFill>
              </a:rPr>
              <a:t>Paquets populaires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0" y="2286000"/>
            <a:ext cx="1828800" cy="457200"/>
          </a:xfrm>
          <a:prstGeom prst="roundRect">
            <a:avLst>
              <a:gd name="adj" fmla="val 14000"/>
            </a:avLst>
          </a:prstGeom>
          <a:solidFill>
            <a:srgbClr val="E8F4FD"/>
          </a:solidFill>
          <a:ln/>
        </p:spPr>
      </p:sp>
      <p:sp>
        <p:nvSpPr>
          <p:cNvPr id="17" name="Text 15"/>
          <p:cNvSpPr/>
          <p:nvPr/>
        </p:nvSpPr>
        <p:spPr>
          <a:xfrm>
            <a:off x="5102352" y="22860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laravel/framework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995160" y="2286000"/>
            <a:ext cx="1828800" cy="457200"/>
          </a:xfrm>
          <a:prstGeom prst="roundRect">
            <a:avLst>
              <a:gd name="adj" fmla="val 14000"/>
            </a:avLst>
          </a:prstGeom>
          <a:solidFill>
            <a:srgbClr val="E8F4FD"/>
          </a:solidFill>
          <a:ln/>
        </p:spPr>
      </p:sp>
      <p:sp>
        <p:nvSpPr>
          <p:cNvPr id="19" name="Text 17"/>
          <p:cNvSpPr/>
          <p:nvPr/>
        </p:nvSpPr>
        <p:spPr>
          <a:xfrm>
            <a:off x="7068312" y="22860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symfony/console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029200" y="2852928"/>
            <a:ext cx="1828800" cy="457200"/>
          </a:xfrm>
          <a:prstGeom prst="roundRect">
            <a:avLst>
              <a:gd name="adj" fmla="val 14000"/>
            </a:avLst>
          </a:prstGeom>
          <a:solidFill>
            <a:srgbClr val="E8F4FD"/>
          </a:solidFill>
          <a:ln/>
        </p:spPr>
      </p:sp>
      <p:sp>
        <p:nvSpPr>
          <p:cNvPr id="21" name="Text 19"/>
          <p:cNvSpPr/>
          <p:nvPr/>
        </p:nvSpPr>
        <p:spPr>
          <a:xfrm>
            <a:off x="5102352" y="285292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guzzlehttp/guzzle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995160" y="2852928"/>
            <a:ext cx="1828800" cy="457200"/>
          </a:xfrm>
          <a:prstGeom prst="roundRect">
            <a:avLst>
              <a:gd name="adj" fmla="val 14000"/>
            </a:avLst>
          </a:prstGeom>
          <a:solidFill>
            <a:srgbClr val="E8F4FD"/>
          </a:solidFill>
          <a:ln/>
        </p:spPr>
      </p:sp>
      <p:sp>
        <p:nvSpPr>
          <p:cNvPr id="23" name="Text 21"/>
          <p:cNvSpPr/>
          <p:nvPr/>
        </p:nvSpPr>
        <p:spPr>
          <a:xfrm>
            <a:off x="7068312" y="285292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monolog/monolog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029200" y="3419856"/>
            <a:ext cx="1828800" cy="457200"/>
          </a:xfrm>
          <a:prstGeom prst="roundRect">
            <a:avLst>
              <a:gd name="adj" fmla="val 14000"/>
            </a:avLst>
          </a:prstGeom>
          <a:solidFill>
            <a:srgbClr val="E8F4FD"/>
          </a:solidFill>
          <a:ln/>
        </p:spPr>
      </p:sp>
      <p:sp>
        <p:nvSpPr>
          <p:cNvPr id="25" name="Text 23"/>
          <p:cNvSpPr/>
          <p:nvPr/>
        </p:nvSpPr>
        <p:spPr>
          <a:xfrm>
            <a:off x="5102352" y="341985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phpunit/phpunit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995160" y="3419856"/>
            <a:ext cx="1828800" cy="457200"/>
          </a:xfrm>
          <a:prstGeom prst="roundRect">
            <a:avLst>
              <a:gd name="adj" fmla="val 14000"/>
            </a:avLst>
          </a:prstGeom>
          <a:solidFill>
            <a:srgbClr val="E8F4FD"/>
          </a:solidFill>
          <a:ln/>
        </p:spPr>
      </p:sp>
      <p:sp>
        <p:nvSpPr>
          <p:cNvPr id="27" name="Text 25"/>
          <p:cNvSpPr/>
          <p:nvPr/>
        </p:nvSpPr>
        <p:spPr>
          <a:xfrm>
            <a:off x="7068312" y="341985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doctrine/orm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65760" y="376732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</a:rPr>
              <a:t>Contraintes de version dans composer.json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65760" y="4160520"/>
            <a:ext cx="8412480" cy="914400"/>
          </a:xfrm>
          <a:prstGeom prst="roundRect">
            <a:avLst>
              <a:gd name="adj" fmla="val 8000"/>
            </a:avLst>
          </a:prstGeom>
          <a:solidFill>
            <a:srgbClr val="1E3A4C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5760" y="4160520"/>
            <a:ext cx="256032" cy="914400"/>
          </a:xfrm>
          <a:prstGeom prst="rect">
            <a:avLst/>
          </a:prstGeom>
          <a:solidFill>
            <a:srgbClr val="102030"/>
          </a:solidFill>
          <a:ln/>
        </p:spPr>
      </p:sp>
      <p:sp>
        <p:nvSpPr>
          <p:cNvPr id="31" name="Text 29"/>
          <p:cNvSpPr/>
          <p:nvPr/>
        </p:nvSpPr>
        <p:spPr>
          <a:xfrm>
            <a:off x="685800" y="4206240"/>
            <a:ext cx="8001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"^3.0"  → &gt;=3.0  &lt;4.0   (compatible mineur)   ← recommandé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"~3.2"  → &gt;=3.2  &lt;4.0   (patch &amp; mineur autorisés)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"3.1.*" → &gt;=3.1.0 &lt;3.2.0 (patch uniquement)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"&gt;=2.0 &lt;4.0" → plage explicite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48640" y="3200400"/>
            <a:ext cx="2743200" cy="27432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457200"/>
            <a:ext cx="2286000" cy="2286000"/>
          </a:xfrm>
          <a:prstGeom prst="ellipse">
            <a:avLst/>
          </a:prstGeom>
          <a:solidFill>
            <a:srgbClr val="1C7293">
              <a:alpha val="3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C9A7"/>
                </a:solidFill>
              </a:rPr>
              <a:t>Récapitulatif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8503920" cy="841248"/>
          </a:xfrm>
          <a:prstGeom prst="roundRect">
            <a:avLst>
              <a:gd name="adj" fmla="val 10870"/>
            </a:avLst>
          </a:prstGeom>
          <a:solidFill>
            <a:srgbClr val="0D2B3E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1005840"/>
            <a:ext cx="457200" cy="841248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005840"/>
            <a:ext cx="457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C9A7"/>
                </a:solidFill>
              </a:rPr>
              <a:t>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10332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Fonctions Anonymes &amp; Closures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1335024"/>
            <a:ext cx="7818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AABD"/>
                </a:solidFill>
              </a:rPr>
              <a:t>Fonctions sans nom, assignables, passables. Closures capturent le scope via use(). Arrow functions (PHP 7.4+) : syntaxe courte, capture automatique.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" y="1965960"/>
            <a:ext cx="8503920" cy="841248"/>
          </a:xfrm>
          <a:prstGeom prst="roundRect">
            <a:avLst>
              <a:gd name="adj" fmla="val 10870"/>
            </a:avLst>
          </a:prstGeom>
          <a:solidFill>
            <a:srgbClr val="0D2B3E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1965960"/>
            <a:ext cx="457200" cy="841248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" y="1965960"/>
            <a:ext cx="457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C9A7"/>
                </a:solidFill>
              </a:rPr>
              <a:t>B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68680" y="199339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Fonctions array_*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68680" y="2295144"/>
            <a:ext cx="7818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AABD"/>
                </a:solidFill>
              </a:rPr>
              <a:t>array_map / filter / reduce pour transformer les données sans boucles. usort, array_unique, array_merge… Programmation fonctionnelle en PHP.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" y="2926080"/>
            <a:ext cx="8503920" cy="841248"/>
          </a:xfrm>
          <a:prstGeom prst="roundRect">
            <a:avLst>
              <a:gd name="adj" fmla="val 10870"/>
            </a:avLst>
          </a:prstGeom>
          <a:solidFill>
            <a:srgbClr val="0D2B3E"/>
          </a:solidFill>
          <a:ln/>
        </p:spPr>
      </p:sp>
      <p:sp>
        <p:nvSpPr>
          <p:cNvPr id="16" name="Shape 14"/>
          <p:cNvSpPr/>
          <p:nvPr/>
        </p:nvSpPr>
        <p:spPr>
          <a:xfrm>
            <a:off x="320040" y="2926080"/>
            <a:ext cx="457200" cy="841248"/>
          </a:xfrm>
          <a:prstGeom prst="roundRect">
            <a:avLst>
              <a:gd name="adj" fmla="val 20000"/>
            </a:avLst>
          </a:prstGeom>
          <a:solidFill>
            <a:srgbClr val="0A7EA4"/>
          </a:solidFill>
          <a:ln/>
        </p:spPr>
      </p:sp>
      <p:sp>
        <p:nvSpPr>
          <p:cNvPr id="17" name="Text 15"/>
          <p:cNvSpPr/>
          <p:nvPr/>
        </p:nvSpPr>
        <p:spPr>
          <a:xfrm>
            <a:off x="320040" y="2926080"/>
            <a:ext cx="457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C9A7"/>
                </a:solidFill>
              </a:rPr>
              <a:t>C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68680" y="295351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Composer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68680" y="3255264"/>
            <a:ext cx="7818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AABD"/>
                </a:solidFill>
              </a:rPr>
              <a:t>Gestionnaire de dépendances CLI. composer.json + composer.lock. Génère l'autoloader PSR-4. Commandes : require, install, update, dump-autoload.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3886200"/>
            <a:ext cx="8503920" cy="841248"/>
          </a:xfrm>
          <a:prstGeom prst="roundRect">
            <a:avLst>
              <a:gd name="adj" fmla="val 10870"/>
            </a:avLst>
          </a:prstGeom>
          <a:solidFill>
            <a:srgbClr val="0D2B3E"/>
          </a:solidFill>
          <a:ln/>
        </p:spPr>
      </p:sp>
      <p:sp>
        <p:nvSpPr>
          <p:cNvPr id="21" name="Shape 19"/>
          <p:cNvSpPr/>
          <p:nvPr/>
        </p:nvSpPr>
        <p:spPr>
          <a:xfrm>
            <a:off x="320040" y="3886200"/>
            <a:ext cx="457200" cy="841248"/>
          </a:xfrm>
          <a:prstGeom prst="roundRect">
            <a:avLst>
              <a:gd name="adj" fmla="val 20000"/>
            </a:avLst>
          </a:prstGeom>
          <a:solidFill>
            <a:srgbClr val="1A5276"/>
          </a:solidFill>
          <a:ln/>
        </p:spPr>
      </p:sp>
      <p:sp>
        <p:nvSpPr>
          <p:cNvPr id="22" name="Text 20"/>
          <p:cNvSpPr/>
          <p:nvPr/>
        </p:nvSpPr>
        <p:spPr>
          <a:xfrm>
            <a:off x="320040" y="3886200"/>
            <a:ext cx="457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C9A7"/>
                </a:solidFill>
              </a:rPr>
              <a:t>D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68680" y="39136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Packagist.org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68680" y="4215384"/>
            <a:ext cx="7818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AABD"/>
                </a:solidFill>
              </a:rPr>
              <a:t>Registre central de &gt;350 000 paquets PHP. Lie Composer aux dépôts Git. Contraintes sémantiques (^, ~, *). Standard de facto de l'écosystème PHP.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65760" y="47091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9A7"/>
                </a:solidFill>
              </a:rPr>
              <a:t>Merci · Questions ?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PHP Avancé – Fonctions, Tableaux, Composer &amp; Packagist</dc:title>
  <dc:subject>PptxGenJS Presentation</dc:subject>
  <dc:creator>PptxGenJS</dc:creator>
  <cp:lastModifiedBy>PptxGenJS</cp:lastModifiedBy>
  <cp:revision>1</cp:revision>
  <dcterms:created xsi:type="dcterms:W3CDTF">2026-06-28T02:48:20Z</dcterms:created>
  <dcterms:modified xsi:type="dcterms:W3CDTF">2026-06-28T02:48:20Z</dcterms:modified>
</cp:coreProperties>
</file>